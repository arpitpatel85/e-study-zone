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921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5029200" cy="50292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FF6B35">
              <a:alpha val="8000"/>
            </a:srgbClr>
          </a:solidFill>
          <a:ln w="12700">
            <a:solidFill>
              <a:srgbClr val="FF6B35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048" y="475488"/>
            <a:ext cx="2821432" cy="269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01568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Seth Vishambhar Nath Institute of Engineering and Technology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39502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Safedabad, Lucknow-Barabanki Highway, Barabanki – 225003, Uttar Pradesh, India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0" y="4407408"/>
            <a:ext cx="66751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ElectroMart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457200" y="539496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1F5F9"/>
                </a:solidFill>
              </a:rPr>
              <a:t>A Full-Stack Electronic Commerce Web Application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58978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AKTU, Lucknow  |  Dept. of CSE  |  B.Tech Final Year  |  2024–2025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1185976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21792"/>
            <a:ext cx="777240" cy="1261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73152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0D4FF"/>
                </a:solidFill>
              </a:rPr>
              <a:t>SYNOPSIS PRESENTATION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" y="658368"/>
            <a:ext cx="105156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56032" y="658368"/>
            <a:ext cx="105156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20040" y="731520"/>
            <a:ext cx="10387584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ElectroMart: A Full-Stack Electronic Commerce Web Application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2377440"/>
            <a:ext cx="1810512" cy="292608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057400" y="2377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MongoDB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87368" y="2377440"/>
            <a:ext cx="1810512" cy="292608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087368" y="2377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Express.js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17336" y="2377440"/>
            <a:ext cx="1810512" cy="292608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117336" y="2377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React.js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47304" y="2377440"/>
            <a:ext cx="1810512" cy="292608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147304" y="23774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</a:rPr>
              <a:t>Node.js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56032" y="2788920"/>
            <a:ext cx="649224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56032" y="2788920"/>
            <a:ext cx="649224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56032" y="27889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SUBMITTED BY</a:t>
            </a:r>
            <a:endParaRPr lang="en-US" sz="13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273552"/>
            <a:ext cx="6309360" cy="166420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903720" y="2788920"/>
            <a:ext cx="4956048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6903720" y="2788920"/>
            <a:ext cx="495604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903720" y="278892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PROJECT GUIDE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040880" y="33101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</a:rPr>
              <a:t>[Guide Name]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040880" y="37307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[Designation]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040880" y="4023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Dept. of CSE, SVNIET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040880" y="4315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Academic Year: 2022–2026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256032" y="5166360"/>
            <a:ext cx="1163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Seth Vishambhar Nath Institute of Engineering and Technology, Barabanki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256032" y="5440680"/>
            <a:ext cx="1163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Safedabad, Lucknow-Barabanki Highway, Barabanki – 225003, Uttar Pradesh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82296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822960"/>
            <a:ext cx="548640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56032" y="8229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96112" y="10241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6032" y="182880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56032" y="1828800"/>
            <a:ext cx="54864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56032" y="18288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96112" y="20299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Motivation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56032" y="283464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56032" y="2834640"/>
            <a:ext cx="548640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56032" y="28346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96112" y="30358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Literature Review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56032" y="384048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56032" y="3840480"/>
            <a:ext cx="54864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56032" y="38404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04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96112" y="40416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Research Gap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56032" y="484632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56032" y="4846320"/>
            <a:ext cx="54864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56032" y="484632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05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96112" y="50474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45352" y="82296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6245352" y="822960"/>
            <a:ext cx="548640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245352" y="8229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06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885432" y="10241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Objective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45352" y="182880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245352" y="1828800"/>
            <a:ext cx="54864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245352" y="18288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07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6885432" y="20299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Data Flow Diagram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245352" y="283464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6245352" y="2834640"/>
            <a:ext cx="548640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245352" y="28346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08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6885432" y="30358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Proposed Methodology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245352" y="384048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6245352" y="3840480"/>
            <a:ext cx="54864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245352" y="38404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09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6885432" y="40416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Timeline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245352" y="4846320"/>
            <a:ext cx="5687568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6245352" y="4846320"/>
            <a:ext cx="54864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6245352" y="484632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10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6885432" y="50474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References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Introduction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56032" y="804672"/>
            <a:ext cx="6903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ElectroMart?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56032" y="138988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29768" y="1298448"/>
            <a:ext cx="6702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ElectroMart is a production-grade full-stack electronics e-commerce platform built using the MERN Stack — MongoDB, Express.js, React.js, and Node.js.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6032" y="228600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29768" y="2194560"/>
            <a:ext cx="6702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e-commerce market is projected to reach USD 350 billion by 2030, with electronics being the fastest-growing online category.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56032" y="318211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29768" y="3090672"/>
            <a:ext cx="6702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retailers face challenges: limited reach, manual operations, no 24/7 availability, and high commission fees of 8–15% on existing platforms.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56032" y="407822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29768" y="3986784"/>
            <a:ext cx="6702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ElectroMart provides a complete open-source solution with zero commission fees, full code ownership, and free-tier cloud deployment.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56032" y="497433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29768" y="4882896"/>
            <a:ext cx="6702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actors — Customers (browse, buy, review, track orders) and Administrators (manage products, orders, users, and analytics).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60920" y="804672"/>
            <a:ext cx="4572000" cy="25786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4928" y="859536"/>
            <a:ext cx="4443984" cy="245059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360920" y="3547872"/>
            <a:ext cx="1097280" cy="1481328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7360920" y="36576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₹350B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360920" y="422452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Market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by 2030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513064" y="3547872"/>
            <a:ext cx="1097280" cy="1481328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8513064" y="36576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513064" y="422452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Product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Categories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9665208" y="3547872"/>
            <a:ext cx="1097280" cy="148132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9665208" y="36576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25+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9665208" y="422452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Endpoints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10817352" y="3547872"/>
            <a:ext cx="1097280" cy="148132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10817352" y="36576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10817352" y="422452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Pass Rate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Motivation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804672"/>
            <a:ext cx="3749040" cy="5257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804672"/>
            <a:ext cx="3749040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65760" y="822960"/>
            <a:ext cx="475488" cy="47548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87782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8046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Market Opportunity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65760" y="157276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39496" y="148132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₹350 Billion Indian e-commerce market projected by 2030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65760" y="244144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39496" y="235000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fastest growing online shopping segment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65760" y="331012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539496" y="321868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smartphone &amp; internet use in tier-2/tier-3 cities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242816" y="804672"/>
            <a:ext cx="3749040" cy="5257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242816" y="804672"/>
            <a:ext cx="3749040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352544" y="822960"/>
            <a:ext cx="475488" cy="47548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87782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01184" y="8046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Technical Gap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352544" y="157276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4526280" y="148132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open-source MERN e-commerce platform exists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352544" y="244144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4526280" y="235000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charge 8–15% commission — too costly for SMEs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352544" y="331012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4526280" y="321868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retailers need customizable solutions with code ownership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229600" y="804672"/>
            <a:ext cx="3749040" cy="5257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8229600" y="804672"/>
            <a:ext cx="374904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8339328" y="822960"/>
            <a:ext cx="475488" cy="47548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877824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887968" y="8046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Academic Value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339328" y="157276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8513064" y="148132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complete MERN Stack development competence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8339328" y="244144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8513064" y="235000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software engineering: MVC, REST API, JWT, responsive design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8339328" y="331012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2"/>
          <p:cNvSpPr/>
          <p:nvPr/>
        </p:nvSpPr>
        <p:spPr>
          <a:xfrm>
            <a:off x="8513064" y="3218688"/>
            <a:ext cx="3328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cloud integration: Cloudinary + MongoDB Atlas + Render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4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Literature Review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822960"/>
            <a:ext cx="1163116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822960"/>
            <a:ext cx="530352" cy="12618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56032" y="822960"/>
            <a:ext cx="530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[1]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89611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</a:rPr>
              <a:t>Laudon &amp; Traver (2021) — E-Commerce: Business, Technology, Society. Pearson.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128016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Finding: Established framework for modern e-commerce architecture. REST APIs and JSON formats are standard for e-commerce backends.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" y="2240280"/>
            <a:ext cx="1163116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56032" y="2240280"/>
            <a:ext cx="530352" cy="1261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56032" y="2240280"/>
            <a:ext cx="530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[2]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3134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35"/>
                </a:solidFill>
              </a:rPr>
              <a:t>Kumar &amp; Verma (2023) — Performance Analysis of MERN Stack Web Applications. IJCSE.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269748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Finding: Node.js handles 10,000+ concurrent connections with lower latency vs PHP/MySQL. React virtual DOM reduces rendering by 70%.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6032" y="3657600"/>
            <a:ext cx="1163116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56032" y="3657600"/>
            <a:ext cx="530352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56032" y="3657600"/>
            <a:ext cx="530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[3]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8680" y="373075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</a:rPr>
              <a:t>Patel et al. (2022) — Security Analysis of JWT Authentication in RESTful APIs. JWE.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8680" y="411480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Finding: JWT with bcrypt (salt rounds ≥10) provides adequate security. Stateless auth eliminates server sessions, improving scalability.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56032" y="5074920"/>
            <a:ext cx="11631168" cy="1261872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56032" y="5074920"/>
            <a:ext cx="530352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56032" y="5074920"/>
            <a:ext cx="5303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[4]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68680" y="51480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</a:rPr>
              <a:t>Turban et al. (2020) — Electronic Commerce: Managerial and Social Networks Perspective. Springer.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68680" y="55321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Finding: Cloud CDN reduces page load time by 40%. Responsive design is critical — 60%+ of Indian users access e-commerce via mobile.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Research Gap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56032" y="804672"/>
            <a:ext cx="11631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</a:rPr>
              <a:t>What Existing Systems Miss: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1298448"/>
            <a:ext cx="11631168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47472" y="1435608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45336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1344168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Gap 1: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15568" y="1645920"/>
            <a:ext cx="10652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No open-source MERN e-commerce platform exists that can be deployed at zero cost with full customization and code ownership.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6032" y="2532888"/>
            <a:ext cx="11631168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47472" y="2670048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7977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2578608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Gap 2: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15568" y="2880360"/>
            <a:ext cx="10652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Existing platforms (Amazon, Flipkart) do not allow small retailers to run their own branded storefront without paying 8–15% commissions.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256032" y="3767328"/>
            <a:ext cx="11631168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347472" y="3904488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14216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3813048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Gap 3: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15568" y="4114800"/>
            <a:ext cx="10652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No unified study integrates Cloudinary CDN + JWT auth + MongoDB + React.js in a complete, deployable electronics retail solution.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256032" y="5001768"/>
            <a:ext cx="11631168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347472" y="5138928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248656"/>
            <a:ext cx="420624" cy="4206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15568" y="5047488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Gap 4: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15568" y="5349240"/>
            <a:ext cx="10652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Current academic projects lack verified-purchase reviews, admin analytics dashboards, and fully responsive mobile-first design.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|  Problem Statement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804672"/>
            <a:ext cx="1163116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804672"/>
            <a:ext cx="11631168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47472" y="896112"/>
            <a:ext cx="1144828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medium-scale electronics retailers in India lack an affordable, feature-rich, open-source e-commerce platform that provides 24/7 online presence, automated order management, real-time inventory tracking, and business analytics — without paying high commissions to third-party marketplaces.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032" y="2212848"/>
            <a:ext cx="3767328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56032" y="2212848"/>
            <a:ext cx="3767328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29184" y="2212848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✕  Limited Reach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274320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</a:rPr>
              <a:t>Physical stores serve only local area; unable to reach online customer base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42816" y="2212848"/>
            <a:ext cx="3767328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242816" y="2212848"/>
            <a:ext cx="3767328" cy="4389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315968" y="2212848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✕  Manual Operations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52544" y="274320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</a:rPr>
              <a:t>Order tracking and inventory done manually, causing costly errors and delays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0" y="2212848"/>
            <a:ext cx="3767328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229600" y="2212848"/>
            <a:ext cx="3767328" cy="43891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02752" y="2212848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✕  No 24/7 Presence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39328" y="274320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</a:rPr>
              <a:t>Fixed store hours mean missed sales opportunities after business hours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256032" y="4041648"/>
            <a:ext cx="3767328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56032" y="4041648"/>
            <a:ext cx="376732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29184" y="4041648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✕  High Commissions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65760" y="457200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</a:rPr>
              <a:t>Platforms like Amazon/Flipkart charge 8–15% commission per transaction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242816" y="4041648"/>
            <a:ext cx="3767328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242816" y="4041648"/>
            <a:ext cx="3767328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315968" y="4041648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✕  No Analytics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352544" y="457200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</a:rPr>
              <a:t>No data on sales trends, customer behavior, or popular products available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229600" y="4041648"/>
            <a:ext cx="3767328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8229600" y="4041648"/>
            <a:ext cx="3767328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8302752" y="4041648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✕  Poor Customer Trust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339328" y="4572000"/>
            <a:ext cx="3547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</a:rPr>
              <a:t>No professional online storefront reduces credibility with digital shoppers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|  Objective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822960"/>
            <a:ext cx="568756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65760" y="978408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088136"/>
            <a:ext cx="429768" cy="429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8869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O1 — Full-Stack MERN Platform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33856" y="12801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Complete e-commerce using MongoDB, Express.js, React.js 18, and Node.js.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45352" y="822960"/>
            <a:ext cx="568756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355080" y="978408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088136"/>
            <a:ext cx="429768" cy="4297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23176" y="8869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O2 — Secure Authentication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123176" y="12801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JWT + bcryptjs (salt:10) with role-based access control (user/admin).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256032" y="2212848"/>
            <a:ext cx="568756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365760" y="2368296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2478024"/>
            <a:ext cx="429768" cy="4297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33856" y="227685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O3 — RESTful API Design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33856" y="267004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25+ REST endpoints for products, orders, users, reviews, and admin ops.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45352" y="2212848"/>
            <a:ext cx="568756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6355080" y="2368296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2478024"/>
            <a:ext cx="429768" cy="4297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23176" y="227685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O4 — Responsive UI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123176" y="267004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React.js frontend for Desktop (1024px+), Tablet (768px), Mobile (480px).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256032" y="3602736"/>
            <a:ext cx="568756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365760" y="3758184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3867912"/>
            <a:ext cx="429768" cy="4297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33856" y="366674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O5 — Payment Module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133856" y="405993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COD + Mock Card payment with 2-step checkout: address → payment.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245352" y="3602736"/>
            <a:ext cx="568756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6355080" y="3758184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4808" y="3867912"/>
            <a:ext cx="429768" cy="4297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23176" y="366674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O6 — Admin Dashboard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7123176" y="405993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KPI analytics, product CRUD with Cloudinary upload, order pipeline.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256032" y="4992624"/>
            <a:ext cx="568756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28"/>
          <p:cNvSpPr/>
          <p:nvPr/>
        </p:nvSpPr>
        <p:spPr>
          <a:xfrm>
            <a:off x="365760" y="5148072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5257800"/>
            <a:ext cx="429768" cy="4297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33856" y="50566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O7 — Cloud Image Management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1133856" y="544982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Cloudinary: auto-resize to 800×800px, up to 5 images per product.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6245352" y="4992624"/>
            <a:ext cx="568756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2"/>
          <p:cNvSpPr/>
          <p:nvPr/>
        </p:nvSpPr>
        <p:spPr>
          <a:xfrm>
            <a:off x="6355080" y="5148072"/>
            <a:ext cx="658368" cy="658368"/>
          </a:xfrm>
          <a:prstGeom prst="ellipse">
            <a:avLst/>
          </a:prstGeom>
          <a:solidFill>
            <a:srgbClr val="1A2235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4808" y="5257800"/>
            <a:ext cx="429768" cy="42976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123176" y="50566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O8 — Review &amp; Rating System</a:t>
            </a:r>
            <a:endParaRPr lang="en-US" sz="1300" dirty="0"/>
          </a:p>
        </p:txBody>
      </p:sp>
      <p:sp>
        <p:nvSpPr>
          <p:cNvPr id="45" name="Text 34"/>
          <p:cNvSpPr/>
          <p:nvPr/>
        </p:nvSpPr>
        <p:spPr>
          <a:xfrm>
            <a:off x="7123176" y="544982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Star ratings + text reviews with verified-purchase badge for buyers.</a:t>
            </a:r>
            <a:endParaRPr lang="en-US" sz="1150" dirty="0"/>
          </a:p>
        </p:txBody>
      </p:sp>
      <p:sp>
        <p:nvSpPr>
          <p:cNvPr id="46" name="Shape 3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6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37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|  Data Flow Diagram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786384"/>
            <a:ext cx="11631168" cy="52760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841248"/>
            <a:ext cx="11503152" cy="5138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|  Proposed Methodology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56032" y="768096"/>
            <a:ext cx="1163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</a:rPr>
              <a:t>System developed using MERN Stack with Cloudinary, JWT Authentication, and RESTful API design principles.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6032" y="1207008"/>
            <a:ext cx="672084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56032" y="1207008"/>
            <a:ext cx="475488" cy="7680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56032" y="1207008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1243584"/>
            <a:ext cx="6053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Requirement Analysis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" y="1554480"/>
            <a:ext cx="6053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Functional requirements, use cases, actors definition, scope &amp; feasibility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6032" y="2121408"/>
            <a:ext cx="672084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56032" y="2121408"/>
            <a:ext cx="475488" cy="76809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56032" y="2121408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04672" y="2157984"/>
            <a:ext cx="6053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System Design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" y="2468880"/>
            <a:ext cx="6053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Three-tier architecture, ER diagram, API endpoint design, MongoDB schema, wireframes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56032" y="3035808"/>
            <a:ext cx="672084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56032" y="3035808"/>
            <a:ext cx="475488" cy="7680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56032" y="3035808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4672" y="3072384"/>
            <a:ext cx="6053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Database Creation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4672" y="3383280"/>
            <a:ext cx="6053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MongoDB collections: Users, Products, Orders, Reviews with Mongoose ODM validation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56032" y="3950208"/>
            <a:ext cx="672084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56032" y="3950208"/>
            <a:ext cx="475488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56032" y="3950208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04672" y="3986784"/>
            <a:ext cx="6053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Coding &amp; Integration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4672" y="4297680"/>
            <a:ext cx="6053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Express.js REST API + React.js frontend + JWT auth + Cloudinary image upload pipeline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256032" y="4864608"/>
            <a:ext cx="672084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56032" y="4864608"/>
            <a:ext cx="475488" cy="7680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56032" y="4864608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04672" y="4901184"/>
            <a:ext cx="6053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Testing &amp; Validation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04672" y="5212080"/>
            <a:ext cx="6053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30 black-box test cases across User &amp; Admin modules — achieved 100% pass rate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256032" y="5779008"/>
            <a:ext cx="672084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256032" y="5779008"/>
            <a:ext cx="475488" cy="7680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256032" y="5779008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04672" y="5815584"/>
            <a:ext cx="6053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04672" y="6126480"/>
            <a:ext cx="6053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Render.com (backend) + Vercel (frontend) + MongoDB Atlas (database) — all free tier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150608" y="1207008"/>
            <a:ext cx="4736592" cy="2578608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05472" y="1261872"/>
            <a:ext cx="4626864" cy="245059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150608" y="3840480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Product Listing Page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7150608" y="4160520"/>
            <a:ext cx="4736592" cy="19019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05472" y="4206240"/>
            <a:ext cx="4626864" cy="178308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7150608" y="6053328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Admin Products Panel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9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0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|  Timeline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3401568"/>
            <a:ext cx="11631168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005840" y="3218688"/>
            <a:ext cx="420624" cy="42062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56032" y="804672"/>
            <a:ext cx="1901952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56032" y="804672"/>
            <a:ext cx="1901952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56032" y="80467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Month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9184" y="1261872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</a:rPr>
              <a:t>Requirement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</a:rPr>
              <a:t>Analysis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9184" y="1883664"/>
            <a:ext cx="175564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Feasibility study,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scope, wireframes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70432" y="3017520"/>
            <a:ext cx="54864" cy="40233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980944" y="3218688"/>
            <a:ext cx="420624" cy="42062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231136" y="3703320"/>
            <a:ext cx="1901952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231136" y="3703320"/>
            <a:ext cx="1901952" cy="3840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231136" y="37033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Month 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04288" y="416052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700"/>
                </a:solidFill>
              </a:rPr>
              <a:t>System Design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D700"/>
                </a:solidFill>
              </a:rPr>
              <a:t>&amp; DB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304288" y="4773168"/>
            <a:ext cx="175564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ER diagram, API,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MongoDB schema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145536" y="3456432"/>
            <a:ext cx="54864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956048" y="3218688"/>
            <a:ext cx="420624" cy="42062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206240" y="804672"/>
            <a:ext cx="1901952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06240" y="804672"/>
            <a:ext cx="1901952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206240" y="80467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Month 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279392" y="1261872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</a:rPr>
              <a:t>Backend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</a:rPr>
              <a:t>Development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279392" y="1883664"/>
            <a:ext cx="175564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Node.js, JWT auth,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MongoDB integration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120640" y="3017520"/>
            <a:ext cx="54864" cy="4023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931152" y="3218688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181344" y="3703320"/>
            <a:ext cx="1901952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6181344" y="3703320"/>
            <a:ext cx="1901952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181344" y="37033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Month 4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54496" y="416052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Frontend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Development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254496" y="4773168"/>
            <a:ext cx="175564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React.js, Context API,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Axios, responsive CSS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095744" y="3456432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8906256" y="3218688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8156448" y="804672"/>
            <a:ext cx="1901952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8156448" y="804672"/>
            <a:ext cx="190195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8156448" y="80467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Month 5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229600" y="1261872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</a:rPr>
              <a:t>Integration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</a:rPr>
              <a:t>&amp; Testing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8229600" y="1883664"/>
            <a:ext cx="175564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30 test cases,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bug fixes, validation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70848" y="3017520"/>
            <a:ext cx="54864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10881360" y="3218688"/>
            <a:ext cx="420624" cy="42062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10131552" y="3703320"/>
            <a:ext cx="1901952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10131552" y="3703320"/>
            <a:ext cx="1901952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10131552" y="37033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Month 6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0204704" y="416052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</a:rPr>
              <a:t>Deployment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</a:rPr>
              <a:t>&amp; Docs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10204704" y="4773168"/>
            <a:ext cx="175564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Render + Vercel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Atlas, report, PPT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1045952" y="3456432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64008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 |  References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896112"/>
            <a:ext cx="64008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11480" y="822960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Laudon, K. C., &amp; Traver, C. G. (2021). E-Commerce: Business, Technology, Society (17th ed.). Pearson Education.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" y="1463040"/>
            <a:ext cx="64008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11480" y="1389888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Turban, E., et al. (2020). Electronic Commerce: A Managerial and Social Networks Perspective (9th ed.). Springer.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" y="2029968"/>
            <a:ext cx="64008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11480" y="1956816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Kumar, R., &amp; Verma, S. (2023). Performance Analysis of MERN Stack Web Applications. IJCSE, Vol. 12(3), pp. 145–158.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" y="2596896"/>
            <a:ext cx="64008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11480" y="2523744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Patel, A., et al. (2022). Security Analysis of JWT Authentication in RESTful APIs. JWE, Vol. 8(2), pp. 89–102.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56032" y="3163824"/>
            <a:ext cx="64008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11480" y="3090672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React.js Official Documentation (2024). Components, Hooks, and Context API. Meta Open Source. https://react.dev/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6032" y="3730752"/>
            <a:ext cx="64008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11480" y="3657600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MongoDB, Inc. (2024). MongoDB Manual — CRUD Operations, Aggregation Pipeline. https://www.mongodb.com/docs/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6032" y="4297680"/>
            <a:ext cx="64008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11480" y="4224528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Cloudinary Ltd. (2024). Cloudinary Developer Documentation — Upload API. https://cloudinary.com/documentation/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56032" y="4864608"/>
            <a:ext cx="64008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11480" y="4791456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Jones, M., et al. (2015). JSON Web Token (JWT) — RFC 7519. IETF. https://jwt.io/introduction/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56032" y="5431536"/>
            <a:ext cx="64008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11480" y="5358384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Brown, E. (2019). Web Development with Node and Express (2nd ed.). O'Reilly Media.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56032" y="5998464"/>
            <a:ext cx="64008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11480" y="5925312"/>
            <a:ext cx="11475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Pressman, R. S. (2015). Software Engineering: A Practitioner's Approach (8th ed.). McGraw-Hill Education.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0" y="6821424"/>
            <a:ext cx="7922819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182880" y="65288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ElectroMart: A Full-Stack Electronic Commerce Web Application  |  SVNIET, Barabanki  |  AKTU, Lucknow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75004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00D4FF">
              <a:alpha val="9000"/>
            </a:srgbClr>
          </a:solidFill>
          <a:ln w="12700">
            <a:solidFill>
              <a:srgbClr val="00D4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6B35">
              <a:alpha val="9000"/>
            </a:srgbClr>
          </a:solidFill>
          <a:ln w="12700">
            <a:solidFill>
              <a:srgbClr val="FF6B35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72" y="228600"/>
            <a:ext cx="1430528" cy="14813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920" y="237744"/>
            <a:ext cx="1410208" cy="1481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1417320"/>
            <a:ext cx="1161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9" name="Text 5"/>
          <p:cNvSpPr/>
          <p:nvPr/>
        </p:nvSpPr>
        <p:spPr>
          <a:xfrm>
            <a:off x="274320" y="2578608"/>
            <a:ext cx="1161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1F5F9"/>
                </a:solidFill>
              </a:rPr>
              <a:t>ElectroMart: A Full-Stack Electronic Commerce Web Application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1371600" y="3182112"/>
            <a:ext cx="9436608" cy="208483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1371600" y="3182112"/>
            <a:ext cx="9436608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1463040" y="3273552"/>
            <a:ext cx="9253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Questions &amp; Answers Welcome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200400" y="3794760"/>
            <a:ext cx="57607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463040" y="3886200"/>
            <a:ext cx="9253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Guide: [Guide Name]  |  Dept. of CSE, SVNIET, Barabanki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63040" y="4224528"/>
            <a:ext cx="9253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AKTU, Lucknow  |  B.Tech CSE  |  Academic Year: 2024–2025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463040" y="4526280"/>
            <a:ext cx="9253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1F5F9"/>
                </a:solidFill>
              </a:rPr>
              <a:t>Aditya Verma  |  Anand Kumar  |  Arpit Patel  |  Arpit Verma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1371600" y="5138928"/>
            <a:ext cx="1444752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1371600" y="51389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MongoDB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953512" y="5138928"/>
            <a:ext cx="1444752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2953512" y="51389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Express.js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35424" y="5138928"/>
            <a:ext cx="1444752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535424" y="51389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React.js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17336" y="5138928"/>
            <a:ext cx="1444752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117336" y="51389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</a:rPr>
              <a:t>Node.js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699248" y="5138928"/>
            <a:ext cx="1444752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7699248" y="51389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Cloudinary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9281160" y="5138928"/>
            <a:ext cx="1444752" cy="32004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9281160" y="513892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JWT Auth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274320" y="55778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Seth Vishambhar Nath Institute of Engineering and Technology, Barabanki  |  AKTU, Lucknow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1769</Words>
  <Application>Microsoft Office PowerPoint</Application>
  <PresentationFormat>Widescreen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ElectroMart — Synopsis Presentation</dc:title>
  <dc:subject>PptxGenJS Presentation</dc:subject>
  <dc:creator>PptxGenJS</dc:creator>
  <cp:lastModifiedBy>Anand Kumar</cp:lastModifiedBy>
  <cp:revision>2</cp:revision>
  <dcterms:created xsi:type="dcterms:W3CDTF">2026-04-06T02:40:39Z</dcterms:created>
  <dcterms:modified xsi:type="dcterms:W3CDTF">2026-04-06T02:54:47Z</dcterms:modified>
</cp:coreProperties>
</file>